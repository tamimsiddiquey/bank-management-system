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234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4FC3F7"/>
          </a:solidFill>
          <a:ln w="12700">
            <a:solidFill>
              <a:srgbClr val="4FC3F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589520" y="-822960"/>
            <a:ext cx="2286000" cy="2286000"/>
          </a:xfrm>
          <a:prstGeom prst="ellipse">
            <a:avLst/>
          </a:prstGeom>
          <a:solidFill>
            <a:srgbClr val="4FC3F7">
              <a:alpha val="15000"/>
            </a:srgbClr>
          </a:solidFill>
          <a:ln w="12700">
            <a:solidFill>
              <a:srgbClr val="4FC3F7">
                <a:alpha val="20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138160" y="-365760"/>
            <a:ext cx="1463040" cy="1463040"/>
          </a:xfrm>
          <a:prstGeom prst="ellipse">
            <a:avLst/>
          </a:prstGeom>
          <a:solidFill>
            <a:srgbClr val="4FC3F7">
              <a:alpha val="25000"/>
            </a:srgbClr>
          </a:solidFill>
          <a:ln w="12700">
            <a:solidFill>
              <a:srgbClr val="4FC3F7">
                <a:alpha val="30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-365760" y="4023360"/>
            <a:ext cx="1828800" cy="1828800"/>
          </a:xfrm>
          <a:prstGeom prst="ellipse">
            <a:avLst/>
          </a:prstGeom>
          <a:solidFill>
            <a:srgbClr val="4FC3F7">
              <a:alpha val="12000"/>
            </a:srgbClr>
          </a:solidFill>
          <a:ln w="12700">
            <a:solidFill>
              <a:srgbClr val="4FC3F7">
                <a:alpha val="1500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11480" y="1371600"/>
            <a:ext cx="8321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300" kern="0" dirty="0">
                <a:solidFill>
                  <a:srgbClr val="4FC3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OOP LAB PROJECT  —  BAUST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11480" y="1783080"/>
            <a:ext cx="77724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4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Bank Management</a:t>
            </a:r>
            <a:endParaRPr lang="en-US" sz="4400" dirty="0"/>
          </a:p>
          <a:p>
            <a:pPr algn="l" indent="0" marL="0">
              <a:lnSpc>
                <a:spcPct val="110000"/>
              </a:lnSpc>
              <a:buNone/>
            </a:pPr>
            <a:r>
              <a:rPr lang="en-US" sz="4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</a:t>
            </a:r>
            <a:endParaRPr lang="en-US" sz="4400" dirty="0"/>
          </a:p>
        </p:txBody>
      </p:sp>
      <p:sp>
        <p:nvSpPr>
          <p:cNvPr id="8" name="Shape 6"/>
          <p:cNvSpPr/>
          <p:nvPr/>
        </p:nvSpPr>
        <p:spPr>
          <a:xfrm>
            <a:off x="411480" y="3474720"/>
            <a:ext cx="2286000" cy="36576"/>
          </a:xfrm>
          <a:prstGeom prst="rect">
            <a:avLst/>
          </a:prstGeom>
          <a:solidFill>
            <a:srgbClr val="4FC3F7"/>
          </a:solidFill>
          <a:ln w="12700">
            <a:solidFill>
              <a:srgbClr val="4FC3F7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11480" y="3584448"/>
            <a:ext cx="6858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console-based Java application demonstrating core</a:t>
            </a:r>
            <a:endParaRPr lang="en-US" sz="1300" dirty="0"/>
          </a:p>
          <a:p>
            <a:pPr algn="l"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Object-Oriented Programming principles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11480" y="4407408"/>
            <a:ext cx="1097280" cy="347472"/>
          </a:xfrm>
          <a:prstGeom prst="roundRect">
            <a:avLst>
              <a:gd name="adj" fmla="val 13158"/>
            </a:avLst>
          </a:prstGeom>
          <a:solidFill>
            <a:srgbClr val="4FC3F7">
              <a:alpha val="20000"/>
            </a:srgbClr>
          </a:solidFill>
          <a:ln w="12700">
            <a:solidFill>
              <a:srgbClr val="4FC3F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11480" y="4407408"/>
            <a:ext cx="1097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FC3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Java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1600200" y="4407408"/>
            <a:ext cx="1280160" cy="347472"/>
          </a:xfrm>
          <a:prstGeom prst="roundRect">
            <a:avLst>
              <a:gd name="adj" fmla="val 13158"/>
            </a:avLst>
          </a:prstGeom>
          <a:solidFill>
            <a:srgbClr val="4FC3F7">
              <a:alpha val="20000"/>
            </a:srgbClr>
          </a:solidFill>
          <a:ln w="12700">
            <a:solidFill>
              <a:srgbClr val="4FC3F7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600200" y="4407408"/>
            <a:ext cx="1280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FC3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OOP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2971800" y="4407408"/>
            <a:ext cx="1371600" cy="347472"/>
          </a:xfrm>
          <a:prstGeom prst="roundRect">
            <a:avLst>
              <a:gd name="adj" fmla="val 13158"/>
            </a:avLst>
          </a:prstGeom>
          <a:solidFill>
            <a:srgbClr val="4FC3F7">
              <a:alpha val="20000"/>
            </a:srgbClr>
          </a:solidFill>
          <a:ln w="12700">
            <a:solidFill>
              <a:srgbClr val="4FC3F7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971800" y="4407408"/>
            <a:ext cx="1371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FC3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Console App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1A2340"/>
          </a:solidFill>
          <a:ln w="12700">
            <a:solidFill>
              <a:srgbClr val="1A234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A2340"/>
          </a:solidFill>
          <a:ln w="12700">
            <a:solidFill>
              <a:srgbClr val="1A234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0"/>
            <a:ext cx="85039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Overview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8046720" y="0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3200" b="1" dirty="0">
                <a:solidFill>
                  <a:srgbClr val="4FC3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3200" dirty="0"/>
          </a:p>
        </p:txBody>
      </p:sp>
      <p:sp>
        <p:nvSpPr>
          <p:cNvPr id="6" name="Shape 4"/>
          <p:cNvSpPr/>
          <p:nvPr/>
        </p:nvSpPr>
        <p:spPr>
          <a:xfrm>
            <a:off x="320040" y="1097280"/>
            <a:ext cx="8503920" cy="960120"/>
          </a:xfrm>
          <a:prstGeom prst="rect">
            <a:avLst/>
          </a:prstGeom>
          <a:solidFill>
            <a:srgbClr val="1A2340">
              <a:alpha val="95000"/>
            </a:srgbClr>
          </a:solidFill>
          <a:ln w="12700">
            <a:solidFill>
              <a:srgbClr val="1A2340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25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320040" y="1097280"/>
            <a:ext cx="8503920" cy="960120"/>
          </a:xfrm>
          <a:prstGeom prst="rect">
            <a:avLst/>
          </a:prstGeom>
          <a:noFill/>
          <a:ln/>
        </p:spPr>
        <p:txBody>
          <a:bodyPr wrap="square" lIns="190500" tIns="190500" rIns="190500" bIns="190500" rtlCol="0" anchor="ctr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fully functional console-based Bank Management System built in Java, designed to demonstrate core OOP principles in a realistic, interactive environment. No GUI framework required — all operations run through a clean terminal menu.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320040" y="2286000"/>
            <a:ext cx="2743200" cy="25146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25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320040" y="2286000"/>
            <a:ext cx="2743200" cy="64008"/>
          </a:xfrm>
          <a:prstGeom prst="rect">
            <a:avLst/>
          </a:prstGeom>
          <a:solidFill>
            <a:srgbClr val="4FC3F7"/>
          </a:solidFill>
          <a:ln w="12700">
            <a:solidFill>
              <a:srgbClr val="4FC3F7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20040" y="2423160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🏦</a:t>
            </a:r>
            <a:endParaRPr lang="en-US" sz="2600" dirty="0"/>
          </a:p>
        </p:txBody>
      </p:sp>
      <p:sp>
        <p:nvSpPr>
          <p:cNvPr id="11" name="Text 9"/>
          <p:cNvSpPr/>
          <p:nvPr/>
        </p:nvSpPr>
        <p:spPr>
          <a:xfrm>
            <a:off x="320040" y="3017520"/>
            <a:ext cx="2743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A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Multi-Account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457200" y="3456432"/>
            <a:ext cx="24688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&amp; manage up to 10 independent bank accounts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3200400" y="2286000"/>
            <a:ext cx="2743200" cy="25146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25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3200400" y="2286000"/>
            <a:ext cx="2743200" cy="64008"/>
          </a:xfrm>
          <a:prstGeom prst="rect">
            <a:avLst/>
          </a:prstGeom>
          <a:solidFill>
            <a:srgbClr val="4FC3F7"/>
          </a:solidFill>
          <a:ln w="12700">
            <a:solidFill>
              <a:srgbClr val="4FC3F7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200400" y="2423160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💳</a:t>
            </a:r>
            <a:endParaRPr lang="en-US" sz="2600" dirty="0"/>
          </a:p>
        </p:txBody>
      </p:sp>
      <p:sp>
        <p:nvSpPr>
          <p:cNvPr id="16" name="Text 14"/>
          <p:cNvSpPr/>
          <p:nvPr/>
        </p:nvSpPr>
        <p:spPr>
          <a:xfrm>
            <a:off x="3200400" y="3017520"/>
            <a:ext cx="2743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A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Transactions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3337560" y="3456432"/>
            <a:ext cx="24688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Deposit, withdraw &amp; transfer funds with full validation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6080760" y="2286000"/>
            <a:ext cx="2743200" cy="25146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25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6080760" y="2286000"/>
            <a:ext cx="2743200" cy="64008"/>
          </a:xfrm>
          <a:prstGeom prst="rect">
            <a:avLst/>
          </a:prstGeom>
          <a:solidFill>
            <a:srgbClr val="4FC3F7"/>
          </a:solidFill>
          <a:ln w="12700">
            <a:solidFill>
              <a:srgbClr val="4FC3F7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080760" y="2423160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⚙️</a:t>
            </a:r>
            <a:endParaRPr lang="en-US" sz="2600" dirty="0"/>
          </a:p>
        </p:txBody>
      </p:sp>
      <p:sp>
        <p:nvSpPr>
          <p:cNvPr id="21" name="Text 19"/>
          <p:cNvSpPr/>
          <p:nvPr/>
        </p:nvSpPr>
        <p:spPr>
          <a:xfrm>
            <a:off x="6080760" y="3017520"/>
            <a:ext cx="2743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A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OOP-Driven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6217920" y="3456432"/>
            <a:ext cx="24688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Demonstrates Class, Encapsulation, Objects &amp; Methods</a:t>
            </a:r>
            <a:endParaRPr lang="en-US" sz="11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A234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E2B4A"/>
          </a:solidFill>
          <a:ln w="12700">
            <a:solidFill>
              <a:srgbClr val="1E2B4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0"/>
            <a:ext cx="85039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File Structure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8046720" y="0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3200" b="1" dirty="0">
                <a:solidFill>
                  <a:srgbClr val="4FC3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320040" y="1097280"/>
            <a:ext cx="8503920" cy="1078992"/>
          </a:xfrm>
          <a:prstGeom prst="rect">
            <a:avLst/>
          </a:prstGeom>
          <a:solidFill>
            <a:srgbClr val="243057"/>
          </a:solidFill>
          <a:ln w="12700">
            <a:solidFill>
              <a:srgbClr val="2D3F6B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2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20040" y="1097280"/>
            <a:ext cx="64008" cy="1078992"/>
          </a:xfrm>
          <a:prstGeom prst="rect">
            <a:avLst/>
          </a:prstGeom>
          <a:solidFill>
            <a:srgbClr val="4FC3F7"/>
          </a:solidFill>
          <a:ln w="12700">
            <a:solidFill>
              <a:srgbClr val="4FC3F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02920" y="1170432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4FC3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502920" y="1481328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BankAccount.java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3383280" y="1207008"/>
            <a:ext cx="5257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Represents a single bank account — the core class of the system.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3383280" y="1719072"/>
            <a:ext cx="3200400" cy="292608"/>
          </a:xfrm>
          <a:prstGeom prst="roundRect">
            <a:avLst>
              <a:gd name="adj" fmla="val 12500"/>
            </a:avLst>
          </a:prstGeom>
          <a:solidFill>
            <a:srgbClr val="4FC3F7">
              <a:alpha val="20000"/>
            </a:srgbClr>
          </a:solidFill>
          <a:ln w="12700">
            <a:solidFill>
              <a:srgbClr val="4FC3F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383280" y="1719072"/>
            <a:ext cx="3200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4FC3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 &amp; Encapsulation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320040" y="2359152"/>
            <a:ext cx="8503920" cy="1078992"/>
          </a:xfrm>
          <a:prstGeom prst="rect">
            <a:avLst/>
          </a:prstGeom>
          <a:solidFill>
            <a:srgbClr val="243057"/>
          </a:solidFill>
          <a:ln w="12700">
            <a:solidFill>
              <a:srgbClr val="2D3F6B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25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320040" y="2359152"/>
            <a:ext cx="64008" cy="1078992"/>
          </a:xfrm>
          <a:prstGeom prst="rect">
            <a:avLst/>
          </a:prstGeom>
          <a:solidFill>
            <a:srgbClr val="81D4FA"/>
          </a:solidFill>
          <a:ln w="12700">
            <a:solidFill>
              <a:srgbClr val="81D4F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02920" y="2432304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81D4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502920" y="274320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Main.java</a:t>
            </a:r>
            <a:endParaRPr lang="en-US" sz="1350" dirty="0"/>
          </a:p>
        </p:txBody>
      </p:sp>
      <p:sp>
        <p:nvSpPr>
          <p:cNvPr id="16" name="Text 14"/>
          <p:cNvSpPr/>
          <p:nvPr/>
        </p:nvSpPr>
        <p:spPr>
          <a:xfrm>
            <a:off x="3383280" y="2468880"/>
            <a:ext cx="5257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Runs the interactive menu and handles user interaction logic.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3383280" y="2980944"/>
            <a:ext cx="3200400" cy="292608"/>
          </a:xfrm>
          <a:prstGeom prst="roundRect">
            <a:avLst>
              <a:gd name="adj" fmla="val 12500"/>
            </a:avLst>
          </a:prstGeom>
          <a:solidFill>
            <a:srgbClr val="81D4FA">
              <a:alpha val="20000"/>
            </a:srgbClr>
          </a:solidFill>
          <a:ln w="12700">
            <a:solidFill>
              <a:srgbClr val="81D4F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383280" y="2980944"/>
            <a:ext cx="3200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81D4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Objects, Methods &amp; Array of Objects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320040" y="3621024"/>
            <a:ext cx="8503920" cy="1078992"/>
          </a:xfrm>
          <a:prstGeom prst="rect">
            <a:avLst/>
          </a:prstGeom>
          <a:solidFill>
            <a:srgbClr val="243057"/>
          </a:solidFill>
          <a:ln w="12700">
            <a:solidFill>
              <a:srgbClr val="2D3F6B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25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320040" y="3621024"/>
            <a:ext cx="64008" cy="1078992"/>
          </a:xfrm>
          <a:prstGeom prst="rect">
            <a:avLst/>
          </a:prstGeom>
          <a:solidFill>
            <a:srgbClr val="B0BEC5"/>
          </a:solidFill>
          <a:ln w="12700">
            <a:solidFill>
              <a:srgbClr val="B0BEC5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02920" y="3694176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502920" y="4005072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run.sh</a:t>
            </a:r>
            <a:endParaRPr lang="en-US" sz="1350" dirty="0"/>
          </a:p>
        </p:txBody>
      </p:sp>
      <p:sp>
        <p:nvSpPr>
          <p:cNvPr id="23" name="Text 21"/>
          <p:cNvSpPr/>
          <p:nvPr/>
        </p:nvSpPr>
        <p:spPr>
          <a:xfrm>
            <a:off x="3383280" y="3730752"/>
            <a:ext cx="5257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Shell script to compile and run the project in one command.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3383280" y="4242816"/>
            <a:ext cx="3200400" cy="292608"/>
          </a:xfrm>
          <a:prstGeom prst="roundRect">
            <a:avLst>
              <a:gd name="adj" fmla="val 12500"/>
            </a:avLst>
          </a:prstGeom>
          <a:solidFill>
            <a:srgbClr val="B0BEC5">
              <a:alpha val="20000"/>
            </a:srgbClr>
          </a:solidFill>
          <a:ln w="12700">
            <a:solidFill>
              <a:srgbClr val="B0BEC5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383280" y="4242816"/>
            <a:ext cx="3200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Automation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1A2340"/>
          </a:solidFill>
          <a:ln w="12700">
            <a:solidFill>
              <a:srgbClr val="1A234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A2340"/>
          </a:solidFill>
          <a:ln w="12700">
            <a:solidFill>
              <a:srgbClr val="1A234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0"/>
            <a:ext cx="85039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OOP Concepts Demonstrated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8046720" y="0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3200" b="1" dirty="0">
                <a:solidFill>
                  <a:srgbClr val="4FC3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3200" dirty="0"/>
          </a:p>
        </p:txBody>
      </p:sp>
      <p:sp>
        <p:nvSpPr>
          <p:cNvPr id="6" name="Shape 4"/>
          <p:cNvSpPr/>
          <p:nvPr/>
        </p:nvSpPr>
        <p:spPr>
          <a:xfrm>
            <a:off x="320040" y="1051560"/>
            <a:ext cx="4114800" cy="11612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2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457200" y="1216152"/>
            <a:ext cx="365760" cy="365760"/>
          </a:xfrm>
          <a:prstGeom prst="ellipse">
            <a:avLst/>
          </a:prstGeom>
          <a:solidFill>
            <a:srgbClr val="1A2340"/>
          </a:solidFill>
          <a:ln w="12700">
            <a:solidFill>
              <a:srgbClr val="1A234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121615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4FC3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914400" y="1161288"/>
            <a:ext cx="3291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A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914400" y="1453896"/>
            <a:ext cx="3291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Blueprint for all account objects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57200" y="1783080"/>
            <a:ext cx="3840480" cy="320040"/>
          </a:xfrm>
          <a:prstGeom prst="rect">
            <a:avLst/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57200" y="1783080"/>
            <a:ext cx="3840480" cy="320040"/>
          </a:xfrm>
          <a:prstGeom prst="rect">
            <a:avLst/>
          </a:prstGeom>
          <a:noFill/>
          <a:ln/>
        </p:spPr>
        <p:txBody>
          <a:bodyPr wrap="square" lIns="63500" tIns="63500" rIns="63500" bIns="6350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1A234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public class BankAccount { ... }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4663440" y="1051560"/>
            <a:ext cx="4114800" cy="11612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25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4800600" y="1216152"/>
            <a:ext cx="365760" cy="365760"/>
          </a:xfrm>
          <a:prstGeom prst="ellipse">
            <a:avLst/>
          </a:prstGeom>
          <a:solidFill>
            <a:srgbClr val="1A2340"/>
          </a:solidFill>
          <a:ln w="12700">
            <a:solidFill>
              <a:srgbClr val="1A234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800600" y="121615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4FC3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5257800" y="1161288"/>
            <a:ext cx="3291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A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5257800" y="1453896"/>
            <a:ext cx="3291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account is an instance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4800600" y="1783080"/>
            <a:ext cx="3840480" cy="320040"/>
          </a:xfrm>
          <a:prstGeom prst="rect">
            <a:avLst/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800600" y="1783080"/>
            <a:ext cx="3840480" cy="320040"/>
          </a:xfrm>
          <a:prstGeom prst="rect">
            <a:avLst/>
          </a:prstGeom>
          <a:noFill/>
          <a:ln/>
        </p:spPr>
        <p:txBody>
          <a:bodyPr wrap="square" lIns="63500" tIns="63500" rIns="63500" bIns="6350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1A234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new BankAccount(accNum, name, bal)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320040" y="2350008"/>
            <a:ext cx="4114800" cy="11612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25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457200" y="2514600"/>
            <a:ext cx="365760" cy="365760"/>
          </a:xfrm>
          <a:prstGeom prst="ellipse">
            <a:avLst/>
          </a:prstGeom>
          <a:solidFill>
            <a:srgbClr val="1A2340"/>
          </a:solidFill>
          <a:ln w="12700">
            <a:solidFill>
              <a:srgbClr val="1A234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57200" y="251460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4FC3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914400" y="2459736"/>
            <a:ext cx="3291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A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Encapsulation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914400" y="2752344"/>
            <a:ext cx="3291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Private fields, controlled access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457200" y="3081528"/>
            <a:ext cx="3840480" cy="320040"/>
          </a:xfrm>
          <a:prstGeom prst="rect">
            <a:avLst/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57200" y="3081528"/>
            <a:ext cx="3840480" cy="320040"/>
          </a:xfrm>
          <a:prstGeom prst="rect">
            <a:avLst/>
          </a:prstGeom>
          <a:noFill/>
          <a:ln/>
        </p:spPr>
        <p:txBody>
          <a:bodyPr wrap="square" lIns="63500" tIns="63500" rIns="63500" bIns="6350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1A234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private String accountNumber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4663440" y="2350008"/>
            <a:ext cx="4114800" cy="11612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25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4800600" y="2514600"/>
            <a:ext cx="365760" cy="365760"/>
          </a:xfrm>
          <a:prstGeom prst="ellipse">
            <a:avLst/>
          </a:prstGeom>
          <a:solidFill>
            <a:srgbClr val="1A2340"/>
          </a:solidFill>
          <a:ln w="12700">
            <a:solidFill>
              <a:srgbClr val="1A234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800600" y="251460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4FC3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5257800" y="2459736"/>
            <a:ext cx="3291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A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Constructor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5257800" y="2752344"/>
            <a:ext cx="3291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Auto-initializes new objects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4800600" y="3081528"/>
            <a:ext cx="3840480" cy="320040"/>
          </a:xfrm>
          <a:prstGeom prst="rect">
            <a:avLst/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800600" y="3081528"/>
            <a:ext cx="3840480" cy="320040"/>
          </a:xfrm>
          <a:prstGeom prst="rect">
            <a:avLst/>
          </a:prstGeom>
          <a:noFill/>
          <a:ln/>
        </p:spPr>
        <p:txBody>
          <a:bodyPr wrap="square" lIns="63500" tIns="63500" rIns="63500" bIns="6350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1A234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public BankAccount(String, String, double)</a:t>
            </a:r>
            <a:endParaRPr lang="en-US" sz="950" dirty="0"/>
          </a:p>
        </p:txBody>
      </p:sp>
      <p:sp>
        <p:nvSpPr>
          <p:cNvPr id="34" name="Shape 32"/>
          <p:cNvSpPr/>
          <p:nvPr/>
        </p:nvSpPr>
        <p:spPr>
          <a:xfrm>
            <a:off x="320040" y="3648456"/>
            <a:ext cx="4114800" cy="11612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25000"/>
              </a:srgbClr>
            </a:outerShdw>
          </a:effectLst>
        </p:spPr>
      </p:sp>
      <p:sp>
        <p:nvSpPr>
          <p:cNvPr id="35" name="Shape 33"/>
          <p:cNvSpPr/>
          <p:nvPr/>
        </p:nvSpPr>
        <p:spPr>
          <a:xfrm>
            <a:off x="457200" y="3813048"/>
            <a:ext cx="365760" cy="365760"/>
          </a:xfrm>
          <a:prstGeom prst="ellipse">
            <a:avLst/>
          </a:prstGeom>
          <a:solidFill>
            <a:srgbClr val="1A2340"/>
          </a:solidFill>
          <a:ln w="12700">
            <a:solidFill>
              <a:srgbClr val="1A2340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457200" y="381304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4FC3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914400" y="3758184"/>
            <a:ext cx="3291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A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Methods</a:t>
            </a:r>
            <a:endParaRPr lang="en-US" sz="1300" dirty="0"/>
          </a:p>
        </p:txBody>
      </p:sp>
      <p:sp>
        <p:nvSpPr>
          <p:cNvPr id="38" name="Text 36"/>
          <p:cNvSpPr/>
          <p:nvPr/>
        </p:nvSpPr>
        <p:spPr>
          <a:xfrm>
            <a:off x="914400" y="4050792"/>
            <a:ext cx="3291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Define object behaviour</a:t>
            </a:r>
            <a:endParaRPr lang="en-US" sz="1100" dirty="0"/>
          </a:p>
        </p:txBody>
      </p:sp>
      <p:sp>
        <p:nvSpPr>
          <p:cNvPr id="39" name="Shape 37"/>
          <p:cNvSpPr/>
          <p:nvPr/>
        </p:nvSpPr>
        <p:spPr>
          <a:xfrm>
            <a:off x="457200" y="4379976"/>
            <a:ext cx="3840480" cy="320040"/>
          </a:xfrm>
          <a:prstGeom prst="rect">
            <a:avLst/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457200" y="4379976"/>
            <a:ext cx="3840480" cy="320040"/>
          </a:xfrm>
          <a:prstGeom prst="rect">
            <a:avLst/>
          </a:prstGeom>
          <a:noFill/>
          <a:ln/>
        </p:spPr>
        <p:txBody>
          <a:bodyPr wrap="square" lIns="63500" tIns="63500" rIns="63500" bIns="6350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1A234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deposit(), withdraw(), transfer()</a:t>
            </a:r>
            <a:endParaRPr lang="en-US" sz="950" dirty="0"/>
          </a:p>
        </p:txBody>
      </p:sp>
      <p:sp>
        <p:nvSpPr>
          <p:cNvPr id="41" name="Shape 39"/>
          <p:cNvSpPr/>
          <p:nvPr/>
        </p:nvSpPr>
        <p:spPr>
          <a:xfrm>
            <a:off x="4663440" y="3648456"/>
            <a:ext cx="4114800" cy="11612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25000"/>
              </a:srgbClr>
            </a:outerShdw>
          </a:effectLst>
        </p:spPr>
      </p:sp>
      <p:sp>
        <p:nvSpPr>
          <p:cNvPr id="42" name="Shape 40"/>
          <p:cNvSpPr/>
          <p:nvPr/>
        </p:nvSpPr>
        <p:spPr>
          <a:xfrm>
            <a:off x="4800600" y="3813048"/>
            <a:ext cx="365760" cy="365760"/>
          </a:xfrm>
          <a:prstGeom prst="ellipse">
            <a:avLst/>
          </a:prstGeom>
          <a:solidFill>
            <a:srgbClr val="1A2340"/>
          </a:solidFill>
          <a:ln w="12700">
            <a:solidFill>
              <a:srgbClr val="1A2340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4800600" y="381304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4FC3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000" dirty="0"/>
          </a:p>
        </p:txBody>
      </p:sp>
      <p:sp>
        <p:nvSpPr>
          <p:cNvPr id="44" name="Text 42"/>
          <p:cNvSpPr/>
          <p:nvPr/>
        </p:nvSpPr>
        <p:spPr>
          <a:xfrm>
            <a:off x="5257800" y="3758184"/>
            <a:ext cx="3291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A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 Interaction</a:t>
            </a:r>
            <a:endParaRPr lang="en-US" sz="1300" dirty="0"/>
          </a:p>
        </p:txBody>
      </p:sp>
      <p:sp>
        <p:nvSpPr>
          <p:cNvPr id="45" name="Text 43"/>
          <p:cNvSpPr/>
          <p:nvPr/>
        </p:nvSpPr>
        <p:spPr>
          <a:xfrm>
            <a:off x="5257800" y="4050792"/>
            <a:ext cx="3291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object calls another</a:t>
            </a:r>
            <a:endParaRPr lang="en-US" sz="1100" dirty="0"/>
          </a:p>
        </p:txBody>
      </p:sp>
      <p:sp>
        <p:nvSpPr>
          <p:cNvPr id="46" name="Shape 44"/>
          <p:cNvSpPr/>
          <p:nvPr/>
        </p:nvSpPr>
        <p:spPr>
          <a:xfrm>
            <a:off x="4800600" y="4379976"/>
            <a:ext cx="3840480" cy="320040"/>
          </a:xfrm>
          <a:prstGeom prst="rect">
            <a:avLst/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4800600" y="4379976"/>
            <a:ext cx="3840480" cy="320040"/>
          </a:xfrm>
          <a:prstGeom prst="rect">
            <a:avLst/>
          </a:prstGeom>
          <a:noFill/>
          <a:ln/>
        </p:spPr>
        <p:txBody>
          <a:bodyPr wrap="square" lIns="63500" tIns="63500" rIns="63500" bIns="6350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1A234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fromAcc.transfer(toAcc, amount)</a:t>
            </a:r>
            <a:endParaRPr lang="en-US" sz="9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A234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E2B4A"/>
          </a:solidFill>
          <a:ln w="12700">
            <a:solidFill>
              <a:srgbClr val="1E2B4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0"/>
            <a:ext cx="85039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BankAccount.java — Class Design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8046720" y="0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3200" b="1" dirty="0">
                <a:solidFill>
                  <a:srgbClr val="4FC3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320040" y="1024128"/>
            <a:ext cx="4023360" cy="365760"/>
          </a:xfrm>
          <a:prstGeom prst="rect">
            <a:avLst/>
          </a:prstGeom>
          <a:solidFill>
            <a:srgbClr val="4FC3F7">
              <a:alpha val="20000"/>
            </a:srgbClr>
          </a:solidFill>
          <a:ln w="12700">
            <a:solidFill>
              <a:srgbClr val="4FC3F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20040" y="1024128"/>
            <a:ext cx="4023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4FC3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Private Fields (Encapsulation)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320040" y="1389888"/>
            <a:ext cx="4023360" cy="1691640"/>
          </a:xfrm>
          <a:prstGeom prst="rect">
            <a:avLst/>
          </a:prstGeom>
          <a:solidFill>
            <a:srgbClr val="243057"/>
          </a:solidFill>
          <a:ln w="12700">
            <a:solidFill>
              <a:srgbClr val="2D3F6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1481328"/>
            <a:ext cx="3749040" cy="384048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81D4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accountNumber  : String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57200" y="1911096"/>
            <a:ext cx="3749040" cy="384048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81D4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ownerName      : String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57200" y="2340864"/>
            <a:ext cx="3749040" cy="384048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81D4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balance        : double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800600" y="1024128"/>
            <a:ext cx="4023360" cy="365760"/>
          </a:xfrm>
          <a:prstGeom prst="rect">
            <a:avLst/>
          </a:prstGeom>
          <a:solidFill>
            <a:srgbClr val="4FC3F7">
              <a:alpha val="20000"/>
            </a:srgbClr>
          </a:solidFill>
          <a:ln w="12700">
            <a:solidFill>
              <a:srgbClr val="4FC3F7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800600" y="1024128"/>
            <a:ext cx="4023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4FC3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Methods (Behaviour)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4800600" y="1389888"/>
            <a:ext cx="4023360" cy="1691640"/>
          </a:xfrm>
          <a:prstGeom prst="rect">
            <a:avLst/>
          </a:prstGeom>
          <a:solidFill>
            <a:srgbClr val="243057"/>
          </a:solidFill>
          <a:ln w="12700">
            <a:solidFill>
              <a:srgbClr val="2D3F6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937760" y="1481328"/>
            <a:ext cx="3749040" cy="32004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81D4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deposit(amount)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4937760" y="1828800"/>
            <a:ext cx="3749040" cy="32004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81D4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withdraw(amount)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4937760" y="2176272"/>
            <a:ext cx="3749040" cy="32004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81D4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transfer(target, amount)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4937760" y="2523744"/>
            <a:ext cx="3749040" cy="32004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81D4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displayAccountInfo()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4937760" y="2871216"/>
            <a:ext cx="3749040" cy="292608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B0BEC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getBalance()  getOwnerName()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320040" y="3246120"/>
            <a:ext cx="8503920" cy="347472"/>
          </a:xfrm>
          <a:prstGeom prst="rect">
            <a:avLst/>
          </a:prstGeom>
          <a:solidFill>
            <a:srgbClr val="4FC3F7">
              <a:alpha val="20000"/>
            </a:srgbClr>
          </a:solidFill>
          <a:ln w="12700">
            <a:solidFill>
              <a:srgbClr val="4FC3F7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20040" y="3246120"/>
            <a:ext cx="8503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4FC3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Constructor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320040" y="3593592"/>
            <a:ext cx="8503920" cy="438912"/>
          </a:xfrm>
          <a:prstGeom prst="rect">
            <a:avLst/>
          </a:prstGeom>
          <a:solidFill>
            <a:srgbClr val="243057"/>
          </a:solidFill>
          <a:ln w="12700">
            <a:solidFill>
              <a:srgbClr val="2D3F6B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57200" y="3593592"/>
            <a:ext cx="8229600" cy="438912"/>
          </a:xfrm>
          <a:prstGeom prst="rect">
            <a:avLst/>
          </a:prstGeom>
          <a:noFill/>
          <a:ln/>
        </p:spPr>
        <p:txBody>
          <a:bodyPr wrap="square" lIns="101600" tIns="101600" rIns="101600" bIns="10160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81D4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public BankAccount(String accountNumber, String ownerName, double initialBalance)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320040" y="4169664"/>
            <a:ext cx="8503920" cy="822960"/>
          </a:xfrm>
          <a:prstGeom prst="rect">
            <a:avLst/>
          </a:prstGeom>
          <a:solidFill>
            <a:srgbClr val="1C3A5E"/>
          </a:solidFill>
          <a:ln w="12700">
            <a:solidFill>
              <a:srgbClr val="4FC3F7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02920" y="4242816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4FC3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Design Note:  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502920" y="4489704"/>
            <a:ext cx="8229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fields are private. The transfer() method can access targetAccount.balance directly because both objects belong to the same class, enabling efficient object-to-object interaction while preserving encapsulation from all external classes.</a:t>
            </a:r>
            <a:endParaRPr lang="en-US" sz="10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1A2340"/>
          </a:solidFill>
          <a:ln w="12700">
            <a:solidFill>
              <a:srgbClr val="1A234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A2340"/>
          </a:solidFill>
          <a:ln w="12700">
            <a:solidFill>
              <a:srgbClr val="1A234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0"/>
            <a:ext cx="85039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Main.java — Application Flow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8046720" y="0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3200" b="1" dirty="0">
                <a:solidFill>
                  <a:srgbClr val="4FC3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3200" dirty="0"/>
          </a:p>
        </p:txBody>
      </p:sp>
      <p:sp>
        <p:nvSpPr>
          <p:cNvPr id="6" name="Shape 4"/>
          <p:cNvSpPr/>
          <p:nvPr/>
        </p:nvSpPr>
        <p:spPr>
          <a:xfrm>
            <a:off x="320040" y="1078992"/>
            <a:ext cx="5577840" cy="493776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11480" y="1143000"/>
            <a:ext cx="347472" cy="347472"/>
          </a:xfrm>
          <a:prstGeom prst="ellipse">
            <a:avLst/>
          </a:prstGeom>
          <a:solidFill>
            <a:srgbClr val="1A2340"/>
          </a:solidFill>
          <a:ln w="12700">
            <a:solidFill>
              <a:srgbClr val="1A234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11480" y="114300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4FC3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859536" y="1124712"/>
            <a:ext cx="2103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1A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New Account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859536" y="1325880"/>
            <a:ext cx="4892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Instantiates a BankAccount object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320040" y="1641348"/>
            <a:ext cx="5577840" cy="493776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11480" y="1705356"/>
            <a:ext cx="347472" cy="347472"/>
          </a:xfrm>
          <a:prstGeom prst="ellipse">
            <a:avLst/>
          </a:prstGeom>
          <a:solidFill>
            <a:srgbClr val="1A2340"/>
          </a:solidFill>
          <a:ln w="12700">
            <a:solidFill>
              <a:srgbClr val="1A234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11480" y="1705356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4FC3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859536" y="1687068"/>
            <a:ext cx="2103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1A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Deposit Money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859536" y="1888236"/>
            <a:ext cx="4892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Calls deposit() on the account object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320040" y="2203704"/>
            <a:ext cx="5577840" cy="493776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11480" y="2267712"/>
            <a:ext cx="347472" cy="347472"/>
          </a:xfrm>
          <a:prstGeom prst="ellipse">
            <a:avLst/>
          </a:prstGeom>
          <a:solidFill>
            <a:srgbClr val="1A2340"/>
          </a:solidFill>
          <a:ln w="12700">
            <a:solidFill>
              <a:srgbClr val="1A234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11480" y="2267712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4FC3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859536" y="2249424"/>
            <a:ext cx="2103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1A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Withdraw Money</a:t>
            </a:r>
            <a:endParaRPr lang="en-US" sz="1150" dirty="0"/>
          </a:p>
        </p:txBody>
      </p:sp>
      <p:sp>
        <p:nvSpPr>
          <p:cNvPr id="20" name="Text 18"/>
          <p:cNvSpPr/>
          <p:nvPr/>
        </p:nvSpPr>
        <p:spPr>
          <a:xfrm>
            <a:off x="859536" y="2450592"/>
            <a:ext cx="4892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Calls withdraw() with balance check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320040" y="2766060"/>
            <a:ext cx="5577840" cy="493776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411480" y="2830068"/>
            <a:ext cx="347472" cy="347472"/>
          </a:xfrm>
          <a:prstGeom prst="ellipse">
            <a:avLst/>
          </a:prstGeom>
          <a:solidFill>
            <a:srgbClr val="1A2340"/>
          </a:solidFill>
          <a:ln w="12700">
            <a:solidFill>
              <a:srgbClr val="1A234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11480" y="2830068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4FC3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859536" y="2811780"/>
            <a:ext cx="2103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1A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Transfer Money</a:t>
            </a:r>
            <a:endParaRPr lang="en-US" sz="1150" dirty="0"/>
          </a:p>
        </p:txBody>
      </p:sp>
      <p:sp>
        <p:nvSpPr>
          <p:cNvPr id="25" name="Text 23"/>
          <p:cNvSpPr/>
          <p:nvPr/>
        </p:nvSpPr>
        <p:spPr>
          <a:xfrm>
            <a:off x="859536" y="3012948"/>
            <a:ext cx="4892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 calls transfer() on another object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320040" y="3328416"/>
            <a:ext cx="5577840" cy="493776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411480" y="3392424"/>
            <a:ext cx="347472" cy="347472"/>
          </a:xfrm>
          <a:prstGeom prst="ellipse">
            <a:avLst/>
          </a:prstGeom>
          <a:solidFill>
            <a:srgbClr val="1A2340"/>
          </a:solidFill>
          <a:ln w="12700">
            <a:solidFill>
              <a:srgbClr val="1A234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11480" y="3392424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4FC3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859536" y="3374136"/>
            <a:ext cx="2103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1A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Balance</a:t>
            </a:r>
            <a:endParaRPr lang="en-US" sz="1150" dirty="0"/>
          </a:p>
        </p:txBody>
      </p:sp>
      <p:sp>
        <p:nvSpPr>
          <p:cNvPr id="30" name="Text 28"/>
          <p:cNvSpPr/>
          <p:nvPr/>
        </p:nvSpPr>
        <p:spPr>
          <a:xfrm>
            <a:off x="859536" y="3575304"/>
            <a:ext cx="4892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Calls displayAccountInfo()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320040" y="3890772"/>
            <a:ext cx="5577840" cy="493776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411480" y="3954780"/>
            <a:ext cx="347472" cy="347472"/>
          </a:xfrm>
          <a:prstGeom prst="ellipse">
            <a:avLst/>
          </a:prstGeom>
          <a:solidFill>
            <a:srgbClr val="1A2340"/>
          </a:solidFill>
          <a:ln w="12700">
            <a:solidFill>
              <a:srgbClr val="1A2340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11480" y="395478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4FC3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859536" y="3936492"/>
            <a:ext cx="2103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1A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View All Accounts</a:t>
            </a:r>
            <a:endParaRPr lang="en-US" sz="1150" dirty="0"/>
          </a:p>
        </p:txBody>
      </p:sp>
      <p:sp>
        <p:nvSpPr>
          <p:cNvPr id="35" name="Text 33"/>
          <p:cNvSpPr/>
          <p:nvPr/>
        </p:nvSpPr>
        <p:spPr>
          <a:xfrm>
            <a:off x="859536" y="4137660"/>
            <a:ext cx="4892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Iterates array of objects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320040" y="4453128"/>
            <a:ext cx="5577840" cy="493776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411480" y="4517136"/>
            <a:ext cx="347472" cy="347472"/>
          </a:xfrm>
          <a:prstGeom prst="ellipse">
            <a:avLst/>
          </a:prstGeom>
          <a:solidFill>
            <a:srgbClr val="1A2340"/>
          </a:solidFill>
          <a:ln w="12700">
            <a:solidFill>
              <a:srgbClr val="1A2340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411480" y="4517136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4FC3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000" dirty="0"/>
          </a:p>
        </p:txBody>
      </p:sp>
      <p:sp>
        <p:nvSpPr>
          <p:cNvPr id="39" name="Text 37"/>
          <p:cNvSpPr/>
          <p:nvPr/>
        </p:nvSpPr>
        <p:spPr>
          <a:xfrm>
            <a:off x="859536" y="4498848"/>
            <a:ext cx="2103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1A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Exit</a:t>
            </a:r>
            <a:endParaRPr lang="en-US" sz="1150" dirty="0"/>
          </a:p>
        </p:txBody>
      </p:sp>
      <p:sp>
        <p:nvSpPr>
          <p:cNvPr id="40" name="Text 38"/>
          <p:cNvSpPr/>
          <p:nvPr/>
        </p:nvSpPr>
        <p:spPr>
          <a:xfrm>
            <a:off x="859536" y="4700016"/>
            <a:ext cx="4892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Terminates the do-while loop</a:t>
            </a:r>
            <a:endParaRPr lang="en-US" sz="1000" dirty="0"/>
          </a:p>
        </p:txBody>
      </p:sp>
      <p:sp>
        <p:nvSpPr>
          <p:cNvPr id="41" name="Shape 39"/>
          <p:cNvSpPr/>
          <p:nvPr/>
        </p:nvSpPr>
        <p:spPr>
          <a:xfrm>
            <a:off x="6035040" y="1078992"/>
            <a:ext cx="2788920" cy="3886200"/>
          </a:xfrm>
          <a:prstGeom prst="rect">
            <a:avLst/>
          </a:prstGeom>
          <a:solidFill>
            <a:srgbClr val="1A2340"/>
          </a:solidFill>
          <a:ln w="12700">
            <a:solidFill>
              <a:srgbClr val="2D3F6B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25000"/>
              </a:srgbClr>
            </a:outerShdw>
          </a:effectLst>
        </p:spPr>
      </p:sp>
      <p:sp>
        <p:nvSpPr>
          <p:cNvPr id="42" name="Text 40"/>
          <p:cNvSpPr/>
          <p:nvPr/>
        </p:nvSpPr>
        <p:spPr>
          <a:xfrm>
            <a:off x="6035040" y="1078992"/>
            <a:ext cx="2788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FC3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Program Structure</a:t>
            </a:r>
            <a:endParaRPr lang="en-US" sz="1200" dirty="0"/>
          </a:p>
        </p:txBody>
      </p:sp>
      <p:sp>
        <p:nvSpPr>
          <p:cNvPr id="43" name="Text 41"/>
          <p:cNvSpPr/>
          <p:nvPr/>
        </p:nvSpPr>
        <p:spPr>
          <a:xfrm>
            <a:off x="6126480" y="1536192"/>
            <a:ext cx="2606040" cy="246888"/>
          </a:xfrm>
          <a:prstGeom prst="rect">
            <a:avLst/>
          </a:prstGeom>
          <a:noFill/>
          <a:ln/>
        </p:spPr>
        <p:txBody>
          <a:bodyPr wrap="square" lIns="63500" tIns="63500" rIns="63500" bIns="63500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81D4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BankAccount[] accounts</a:t>
            </a:r>
            <a:endParaRPr lang="en-US" sz="1050" dirty="0"/>
          </a:p>
        </p:txBody>
      </p:sp>
      <p:sp>
        <p:nvSpPr>
          <p:cNvPr id="44" name="Text 42"/>
          <p:cNvSpPr/>
          <p:nvPr/>
        </p:nvSpPr>
        <p:spPr>
          <a:xfrm>
            <a:off x="6126480" y="1783080"/>
            <a:ext cx="2606040" cy="246888"/>
          </a:xfrm>
          <a:prstGeom prst="rect">
            <a:avLst/>
          </a:prstGeom>
          <a:noFill/>
          <a:ln/>
        </p:spPr>
        <p:txBody>
          <a:bodyPr wrap="square" lIns="63500" tIns="63500" rIns="63500" bIns="6350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Array of up to 10 objects</a:t>
            </a:r>
            <a:endParaRPr lang="en-US" sz="950" dirty="0"/>
          </a:p>
        </p:txBody>
      </p:sp>
      <p:sp>
        <p:nvSpPr>
          <p:cNvPr id="45" name="Text 43"/>
          <p:cNvSpPr/>
          <p:nvPr/>
        </p:nvSpPr>
        <p:spPr>
          <a:xfrm>
            <a:off x="6126480" y="2029968"/>
            <a:ext cx="2606040" cy="246888"/>
          </a:xfrm>
          <a:prstGeom prst="rect">
            <a:avLst/>
          </a:prstGeom>
          <a:noFill/>
          <a:ln/>
        </p:spPr>
        <p:txBody>
          <a:bodyPr wrap="square" lIns="63500" tIns="63500" rIns="63500" bIns="63500" rtlCol="0" anchor="ctr"/>
          <a:lstStyle/>
          <a:p>
            <a:pPr algn="l" indent="0" marL="0">
              <a:buNone/>
            </a:pPr>
            <a:endParaRPr lang="en-US" sz="800" dirty="0"/>
          </a:p>
        </p:txBody>
      </p:sp>
      <p:sp>
        <p:nvSpPr>
          <p:cNvPr id="46" name="Text 44"/>
          <p:cNvSpPr/>
          <p:nvPr/>
        </p:nvSpPr>
        <p:spPr>
          <a:xfrm>
            <a:off x="6126480" y="2276856"/>
            <a:ext cx="2606040" cy="246888"/>
          </a:xfrm>
          <a:prstGeom prst="rect">
            <a:avLst/>
          </a:prstGeom>
          <a:noFill/>
          <a:ln/>
        </p:spPr>
        <p:txBody>
          <a:bodyPr wrap="square" lIns="63500" tIns="63500" rIns="63500" bIns="63500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81D4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do-while loop</a:t>
            </a:r>
            <a:endParaRPr lang="en-US" sz="1050" dirty="0"/>
          </a:p>
        </p:txBody>
      </p:sp>
      <p:sp>
        <p:nvSpPr>
          <p:cNvPr id="47" name="Text 45"/>
          <p:cNvSpPr/>
          <p:nvPr/>
        </p:nvSpPr>
        <p:spPr>
          <a:xfrm>
            <a:off x="6126480" y="2523744"/>
            <a:ext cx="2606040" cy="246888"/>
          </a:xfrm>
          <a:prstGeom prst="rect">
            <a:avLst/>
          </a:prstGeom>
          <a:noFill/>
          <a:ln/>
        </p:spPr>
        <p:txBody>
          <a:bodyPr wrap="square" lIns="63500" tIns="63500" rIns="63500" bIns="6350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Menu runs until Exit</a:t>
            </a:r>
            <a:endParaRPr lang="en-US" sz="950" dirty="0"/>
          </a:p>
        </p:txBody>
      </p:sp>
      <p:sp>
        <p:nvSpPr>
          <p:cNvPr id="48" name="Text 46"/>
          <p:cNvSpPr/>
          <p:nvPr/>
        </p:nvSpPr>
        <p:spPr>
          <a:xfrm>
            <a:off x="6126480" y="2770632"/>
            <a:ext cx="2606040" cy="246888"/>
          </a:xfrm>
          <a:prstGeom prst="rect">
            <a:avLst/>
          </a:prstGeom>
          <a:noFill/>
          <a:ln/>
        </p:spPr>
        <p:txBody>
          <a:bodyPr wrap="square" lIns="63500" tIns="63500" rIns="63500" bIns="63500" rtlCol="0" anchor="ctr"/>
          <a:lstStyle/>
          <a:p>
            <a:pPr algn="l" indent="0" marL="0">
              <a:buNone/>
            </a:pPr>
            <a:endParaRPr lang="en-US" sz="800" dirty="0"/>
          </a:p>
        </p:txBody>
      </p:sp>
      <p:sp>
        <p:nvSpPr>
          <p:cNvPr id="49" name="Text 47"/>
          <p:cNvSpPr/>
          <p:nvPr/>
        </p:nvSpPr>
        <p:spPr>
          <a:xfrm>
            <a:off x="6126480" y="3017520"/>
            <a:ext cx="2606040" cy="246888"/>
          </a:xfrm>
          <a:prstGeom prst="rect">
            <a:avLst/>
          </a:prstGeom>
          <a:noFill/>
          <a:ln/>
        </p:spPr>
        <p:txBody>
          <a:bodyPr wrap="square" lIns="63500" tIns="63500" rIns="63500" bIns="63500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81D4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switch-case</a:t>
            </a:r>
            <a:endParaRPr lang="en-US" sz="1050" dirty="0"/>
          </a:p>
        </p:txBody>
      </p:sp>
      <p:sp>
        <p:nvSpPr>
          <p:cNvPr id="50" name="Text 48"/>
          <p:cNvSpPr/>
          <p:nvPr/>
        </p:nvSpPr>
        <p:spPr>
          <a:xfrm>
            <a:off x="6126480" y="3264408"/>
            <a:ext cx="2606040" cy="246888"/>
          </a:xfrm>
          <a:prstGeom prst="rect">
            <a:avLst/>
          </a:prstGeom>
          <a:noFill/>
          <a:ln/>
        </p:spPr>
        <p:txBody>
          <a:bodyPr wrap="square" lIns="63500" tIns="63500" rIns="63500" bIns="6350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Routes menu choice</a:t>
            </a:r>
            <a:endParaRPr lang="en-US" sz="950" dirty="0"/>
          </a:p>
        </p:txBody>
      </p:sp>
      <p:sp>
        <p:nvSpPr>
          <p:cNvPr id="51" name="Text 49"/>
          <p:cNvSpPr/>
          <p:nvPr/>
        </p:nvSpPr>
        <p:spPr>
          <a:xfrm>
            <a:off x="6126480" y="3511296"/>
            <a:ext cx="2606040" cy="246888"/>
          </a:xfrm>
          <a:prstGeom prst="rect">
            <a:avLst/>
          </a:prstGeom>
          <a:noFill/>
          <a:ln/>
        </p:spPr>
        <p:txBody>
          <a:bodyPr wrap="square" lIns="63500" tIns="63500" rIns="63500" bIns="63500" rtlCol="0" anchor="ctr"/>
          <a:lstStyle/>
          <a:p>
            <a:pPr algn="l" indent="0" marL="0">
              <a:buNone/>
            </a:pPr>
            <a:endParaRPr lang="en-US" sz="800" dirty="0"/>
          </a:p>
        </p:txBody>
      </p:sp>
      <p:sp>
        <p:nvSpPr>
          <p:cNvPr id="52" name="Text 50"/>
          <p:cNvSpPr/>
          <p:nvPr/>
        </p:nvSpPr>
        <p:spPr>
          <a:xfrm>
            <a:off x="6126480" y="3758184"/>
            <a:ext cx="2606040" cy="246888"/>
          </a:xfrm>
          <a:prstGeom prst="rect">
            <a:avLst/>
          </a:prstGeom>
          <a:noFill/>
          <a:ln/>
        </p:spPr>
        <p:txBody>
          <a:bodyPr wrap="square" lIns="63500" tIns="63500" rIns="63500" bIns="63500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81D4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findAccount()</a:t>
            </a:r>
            <a:endParaRPr lang="en-US" sz="1050" dirty="0"/>
          </a:p>
        </p:txBody>
      </p:sp>
      <p:sp>
        <p:nvSpPr>
          <p:cNvPr id="53" name="Text 51"/>
          <p:cNvSpPr/>
          <p:nvPr/>
        </p:nvSpPr>
        <p:spPr>
          <a:xfrm>
            <a:off x="6126480" y="4005072"/>
            <a:ext cx="2606040" cy="246888"/>
          </a:xfrm>
          <a:prstGeom prst="rect">
            <a:avLst/>
          </a:prstGeom>
          <a:noFill/>
          <a:ln/>
        </p:spPr>
        <p:txBody>
          <a:bodyPr wrap="square" lIns="63500" tIns="63500" rIns="63500" bIns="6350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Null-safe search helper</a:t>
            </a:r>
            <a:endParaRPr lang="en-US" sz="950" dirty="0"/>
          </a:p>
        </p:txBody>
      </p:sp>
      <p:sp>
        <p:nvSpPr>
          <p:cNvPr id="54" name="Text 52"/>
          <p:cNvSpPr/>
          <p:nvPr/>
        </p:nvSpPr>
        <p:spPr>
          <a:xfrm>
            <a:off x="6126480" y="4251960"/>
            <a:ext cx="2606040" cy="246888"/>
          </a:xfrm>
          <a:prstGeom prst="rect">
            <a:avLst/>
          </a:prstGeom>
          <a:noFill/>
          <a:ln/>
        </p:spPr>
        <p:txBody>
          <a:bodyPr wrap="square" lIns="63500" tIns="63500" rIns="63500" bIns="63500" rtlCol="0" anchor="ctr"/>
          <a:lstStyle/>
          <a:p>
            <a:pPr algn="l" indent="0" marL="0">
              <a:buNone/>
            </a:pPr>
            <a:endParaRPr lang="en-US" sz="800" dirty="0"/>
          </a:p>
        </p:txBody>
      </p:sp>
      <p:sp>
        <p:nvSpPr>
          <p:cNvPr id="55" name="Text 53"/>
          <p:cNvSpPr/>
          <p:nvPr/>
        </p:nvSpPr>
        <p:spPr>
          <a:xfrm>
            <a:off x="6126480" y="4498848"/>
            <a:ext cx="2606040" cy="246888"/>
          </a:xfrm>
          <a:prstGeom prst="rect">
            <a:avLst/>
          </a:prstGeom>
          <a:noFill/>
          <a:ln/>
        </p:spPr>
        <p:txBody>
          <a:bodyPr wrap="square" lIns="63500" tIns="63500" rIns="63500" bIns="63500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81D4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equalsIgnoreCase()</a:t>
            </a:r>
            <a:endParaRPr lang="en-US" sz="1050" dirty="0"/>
          </a:p>
        </p:txBody>
      </p:sp>
      <p:sp>
        <p:nvSpPr>
          <p:cNvPr id="56" name="Text 54"/>
          <p:cNvSpPr/>
          <p:nvPr/>
        </p:nvSpPr>
        <p:spPr>
          <a:xfrm>
            <a:off x="6126480" y="4745736"/>
            <a:ext cx="2606040" cy="246888"/>
          </a:xfrm>
          <a:prstGeom prst="rect">
            <a:avLst/>
          </a:prstGeom>
          <a:noFill/>
          <a:ln/>
        </p:spPr>
        <p:txBody>
          <a:bodyPr wrap="square" lIns="63500" tIns="63500" rIns="63500" bIns="6350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Case-insensitive input</a:t>
            </a:r>
            <a:endParaRPr lang="en-US" sz="9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A234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E2B4A"/>
          </a:solidFill>
          <a:ln w="12700">
            <a:solidFill>
              <a:srgbClr val="1E2B4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0"/>
            <a:ext cx="85039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Features &amp; Testing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8046720" y="0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3200" b="1" dirty="0">
                <a:solidFill>
                  <a:srgbClr val="4FC3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320040" y="1024128"/>
            <a:ext cx="8503920" cy="384048"/>
          </a:xfrm>
          <a:prstGeom prst="rect">
            <a:avLst/>
          </a:prstGeom>
          <a:solidFill>
            <a:srgbClr val="4FC3F7">
              <a:alpha val="80000"/>
            </a:srgbClr>
          </a:solidFill>
          <a:ln w="12700">
            <a:solidFill>
              <a:srgbClr val="4FC3F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20040" y="1024128"/>
            <a:ext cx="4754880" cy="384048"/>
          </a:xfrm>
          <a:prstGeom prst="rect">
            <a:avLst/>
          </a:prstGeom>
          <a:noFill/>
          <a:ln/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Action</a:t>
            </a:r>
            <a:endParaRPr lang="en-US" sz="1150" dirty="0"/>
          </a:p>
        </p:txBody>
      </p:sp>
      <p:sp>
        <p:nvSpPr>
          <p:cNvPr id="7" name="Text 5"/>
          <p:cNvSpPr/>
          <p:nvPr/>
        </p:nvSpPr>
        <p:spPr>
          <a:xfrm>
            <a:off x="5074920" y="1024128"/>
            <a:ext cx="3291840" cy="384048"/>
          </a:xfrm>
          <a:prstGeom prst="rect">
            <a:avLst/>
          </a:prstGeom>
          <a:noFill/>
          <a:ln/>
        </p:spPr>
        <p:txBody>
          <a:bodyPr wrap="square" lIns="63500" tIns="63500" rIns="63500" bIns="6350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Expected Output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8366760" y="1024128"/>
            <a:ext cx="457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320040" y="1408176"/>
            <a:ext cx="8503920" cy="457200"/>
          </a:xfrm>
          <a:prstGeom prst="rect">
            <a:avLst/>
          </a:prstGeom>
          <a:solidFill>
            <a:srgbClr val="243057"/>
          </a:solidFill>
          <a:ln w="6350">
            <a:solidFill>
              <a:srgbClr val="2D3F6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11480" y="1426464"/>
            <a:ext cx="4572000" cy="420624"/>
          </a:xfrm>
          <a:prstGeom prst="rect">
            <a:avLst/>
          </a:prstGeom>
          <a:noFill/>
          <a:ln/>
        </p:spPr>
        <p:txBody>
          <a:bodyPr wrap="square" lIns="63500" tIns="63500" rIns="63500" bIns="6350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ACC-001 (Tamim, BDT 5000)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5074920" y="1426464"/>
            <a:ext cx="3200400" cy="420624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81C7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Account created — details printed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8366760" y="1426464"/>
            <a:ext cx="4572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AF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320040" y="1911096"/>
            <a:ext cx="8503920" cy="457200"/>
          </a:xfrm>
          <a:prstGeom prst="rect">
            <a:avLst/>
          </a:prstGeom>
          <a:solidFill>
            <a:srgbClr val="1F2D4E"/>
          </a:solidFill>
          <a:ln w="6350">
            <a:solidFill>
              <a:srgbClr val="2D3F6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11480" y="1929384"/>
            <a:ext cx="4572000" cy="420624"/>
          </a:xfrm>
          <a:prstGeom prst="rect">
            <a:avLst/>
          </a:prstGeom>
          <a:noFill/>
          <a:ln/>
        </p:spPr>
        <p:txBody>
          <a:bodyPr wrap="square" lIns="63500" tIns="63500" rIns="63500" bIns="6350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ACC-002 (Rahim, BDT 3000)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5074920" y="1929384"/>
            <a:ext cx="3200400" cy="420624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81C7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Second account created successfully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8366760" y="1929384"/>
            <a:ext cx="4572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AF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320040" y="2414016"/>
            <a:ext cx="8503920" cy="457200"/>
          </a:xfrm>
          <a:prstGeom prst="rect">
            <a:avLst/>
          </a:prstGeom>
          <a:solidFill>
            <a:srgbClr val="243057"/>
          </a:solidFill>
          <a:ln w="6350">
            <a:solidFill>
              <a:srgbClr val="2D3F6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11480" y="2432304"/>
            <a:ext cx="4572000" cy="420624"/>
          </a:xfrm>
          <a:prstGeom prst="rect">
            <a:avLst/>
          </a:prstGeom>
          <a:noFill/>
          <a:ln/>
        </p:spPr>
        <p:txBody>
          <a:bodyPr wrap="square" lIns="63500" tIns="63500" rIns="63500" bIns="6350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Deposit BDT 1000 → ACC-001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5074920" y="2432304"/>
            <a:ext cx="3200400" cy="420624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81C7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[SUCCESS] New Balance: BDT 6000.0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8366760" y="2432304"/>
            <a:ext cx="4572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AF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320040" y="2916936"/>
            <a:ext cx="8503920" cy="457200"/>
          </a:xfrm>
          <a:prstGeom prst="rect">
            <a:avLst/>
          </a:prstGeom>
          <a:solidFill>
            <a:srgbClr val="1F2D4E"/>
          </a:solidFill>
          <a:ln w="6350">
            <a:solidFill>
              <a:srgbClr val="2D3F6B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11480" y="2935224"/>
            <a:ext cx="4572000" cy="420624"/>
          </a:xfrm>
          <a:prstGeom prst="rect">
            <a:avLst/>
          </a:prstGeom>
          <a:noFill/>
          <a:ln/>
        </p:spPr>
        <p:txBody>
          <a:bodyPr wrap="square" lIns="63500" tIns="63500" rIns="63500" bIns="6350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Withdraw BDT 500 → ACC-001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5074920" y="2935224"/>
            <a:ext cx="3200400" cy="420624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81C7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[SUCCESS] New Balance: BDT 5500.0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8366760" y="2935224"/>
            <a:ext cx="4572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AF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320040" y="3419856"/>
            <a:ext cx="8503920" cy="457200"/>
          </a:xfrm>
          <a:prstGeom prst="rect">
            <a:avLst/>
          </a:prstGeom>
          <a:solidFill>
            <a:srgbClr val="243057"/>
          </a:solidFill>
          <a:ln w="6350">
            <a:solidFill>
              <a:srgbClr val="2D3F6B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11480" y="3438144"/>
            <a:ext cx="4572000" cy="420624"/>
          </a:xfrm>
          <a:prstGeom prst="rect">
            <a:avLst/>
          </a:prstGeom>
          <a:noFill/>
          <a:ln/>
        </p:spPr>
        <p:txBody>
          <a:bodyPr wrap="square" lIns="63500" tIns="63500" rIns="63500" bIns="6350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Withdraw BDT 99999 → ACC-001</a:t>
            </a:r>
            <a:endParaRPr lang="en-US" sz="1050" dirty="0"/>
          </a:p>
        </p:txBody>
      </p:sp>
      <p:sp>
        <p:nvSpPr>
          <p:cNvPr id="27" name="Text 25"/>
          <p:cNvSpPr/>
          <p:nvPr/>
        </p:nvSpPr>
        <p:spPr>
          <a:xfrm>
            <a:off x="5074920" y="3438144"/>
            <a:ext cx="3200400" cy="420624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81C7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[ERROR] Insufficient balance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8366760" y="3438144"/>
            <a:ext cx="4572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AF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300" dirty="0"/>
          </a:p>
        </p:txBody>
      </p:sp>
      <p:sp>
        <p:nvSpPr>
          <p:cNvPr id="29" name="Shape 27"/>
          <p:cNvSpPr/>
          <p:nvPr/>
        </p:nvSpPr>
        <p:spPr>
          <a:xfrm>
            <a:off x="320040" y="3922776"/>
            <a:ext cx="8503920" cy="457200"/>
          </a:xfrm>
          <a:prstGeom prst="rect">
            <a:avLst/>
          </a:prstGeom>
          <a:solidFill>
            <a:srgbClr val="1F2D4E"/>
          </a:solidFill>
          <a:ln w="6350">
            <a:solidFill>
              <a:srgbClr val="2D3F6B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11480" y="3941064"/>
            <a:ext cx="4572000" cy="420624"/>
          </a:xfrm>
          <a:prstGeom prst="rect">
            <a:avLst/>
          </a:prstGeom>
          <a:noFill/>
          <a:ln/>
        </p:spPr>
        <p:txBody>
          <a:bodyPr wrap="square" lIns="63500" tIns="63500" rIns="63500" bIns="6350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Transfer BDT 2000: ACC-001 → ACC-002</a:t>
            </a:r>
            <a:endParaRPr lang="en-US" sz="1050" dirty="0"/>
          </a:p>
        </p:txBody>
      </p:sp>
      <p:sp>
        <p:nvSpPr>
          <p:cNvPr id="31" name="Text 29"/>
          <p:cNvSpPr/>
          <p:nvPr/>
        </p:nvSpPr>
        <p:spPr>
          <a:xfrm>
            <a:off x="5074920" y="3941064"/>
            <a:ext cx="3200400" cy="420624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81C7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Both account balances updated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8366760" y="3941064"/>
            <a:ext cx="4572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AF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300" dirty="0"/>
          </a:p>
        </p:txBody>
      </p:sp>
      <p:sp>
        <p:nvSpPr>
          <p:cNvPr id="33" name="Shape 31"/>
          <p:cNvSpPr/>
          <p:nvPr/>
        </p:nvSpPr>
        <p:spPr>
          <a:xfrm>
            <a:off x="320040" y="4425696"/>
            <a:ext cx="8503920" cy="457200"/>
          </a:xfrm>
          <a:prstGeom prst="rect">
            <a:avLst/>
          </a:prstGeom>
          <a:solidFill>
            <a:srgbClr val="243057"/>
          </a:solidFill>
          <a:ln w="6350">
            <a:solidFill>
              <a:srgbClr val="2D3F6B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11480" y="4443984"/>
            <a:ext cx="4572000" cy="420624"/>
          </a:xfrm>
          <a:prstGeom prst="rect">
            <a:avLst/>
          </a:prstGeom>
          <a:noFill/>
          <a:ln/>
        </p:spPr>
        <p:txBody>
          <a:bodyPr wrap="square" lIns="63500" tIns="63500" rIns="63500" bIns="6350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View All Accounts</a:t>
            </a:r>
            <a:endParaRPr lang="en-US" sz="1050" dirty="0"/>
          </a:p>
        </p:txBody>
      </p:sp>
      <p:sp>
        <p:nvSpPr>
          <p:cNvPr id="35" name="Text 33"/>
          <p:cNvSpPr/>
          <p:nvPr/>
        </p:nvSpPr>
        <p:spPr>
          <a:xfrm>
            <a:off x="5074920" y="4443984"/>
            <a:ext cx="3200400" cy="420624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81C7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Both accounts displayed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8366760" y="4443984"/>
            <a:ext cx="4572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AF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1A2340"/>
          </a:solidFill>
          <a:ln w="12700">
            <a:solidFill>
              <a:srgbClr val="1A234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A2340"/>
          </a:solidFill>
          <a:ln w="12700">
            <a:solidFill>
              <a:srgbClr val="1A234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0"/>
            <a:ext cx="85039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Error Handling &amp; Common Fixes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8046720" y="0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3200" b="1" dirty="0">
                <a:solidFill>
                  <a:srgbClr val="4FC3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3200" dirty="0"/>
          </a:p>
        </p:txBody>
      </p:sp>
      <p:sp>
        <p:nvSpPr>
          <p:cNvPr id="6" name="Shape 4"/>
          <p:cNvSpPr/>
          <p:nvPr/>
        </p:nvSpPr>
        <p:spPr>
          <a:xfrm>
            <a:off x="320040" y="1078992"/>
            <a:ext cx="4160520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2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20040" y="1078992"/>
            <a:ext cx="4160520" cy="54864"/>
          </a:xfrm>
          <a:prstGeom prst="rect">
            <a:avLst/>
          </a:prstGeom>
          <a:solidFill>
            <a:srgbClr val="EF5350"/>
          </a:solidFill>
          <a:ln w="12700">
            <a:solidFill>
              <a:srgbClr val="EF535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29768" y="1170432"/>
            <a:ext cx="640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EF53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Error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429768" y="1380744"/>
            <a:ext cx="3931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1A234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cannot find symbol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429768" y="1691640"/>
            <a:ext cx="3840480" cy="13716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29768" y="1737360"/>
            <a:ext cx="3931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File not in BankSystem/ folder, or class name misspelled.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709160" y="1078992"/>
            <a:ext cx="4160520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25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709160" y="1078992"/>
            <a:ext cx="4160520" cy="54864"/>
          </a:xfrm>
          <a:prstGeom prst="rect">
            <a:avLst/>
          </a:prstGeom>
          <a:solidFill>
            <a:srgbClr val="EF5350"/>
          </a:solidFill>
          <a:ln w="12700">
            <a:solidFill>
              <a:srgbClr val="EF535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818888" y="1170432"/>
            <a:ext cx="640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EF53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Error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4818888" y="1380744"/>
            <a:ext cx="3931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1A234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javac: command not found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4818888" y="1691640"/>
            <a:ext cx="3840480" cy="13716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818888" y="1737360"/>
            <a:ext cx="3931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JDK not installed or JAVA_HOME not set. Install JDK 17+.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320040" y="2404872"/>
            <a:ext cx="4160520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25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320040" y="2404872"/>
            <a:ext cx="4160520" cy="54864"/>
          </a:xfrm>
          <a:prstGeom prst="rect">
            <a:avLst/>
          </a:prstGeom>
          <a:solidFill>
            <a:srgbClr val="EF5350"/>
          </a:solidFill>
          <a:ln w="12700">
            <a:solidFill>
              <a:srgbClr val="EF535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29768" y="2496312"/>
            <a:ext cx="640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EF53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Error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429768" y="2706624"/>
            <a:ext cx="3931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1A234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InputMismatchException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429768" y="3017520"/>
            <a:ext cx="3840480" cy="13716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29768" y="3063240"/>
            <a:ext cx="3931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entered letters where a number was expected.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4709160" y="2404872"/>
            <a:ext cx="4160520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25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4709160" y="2404872"/>
            <a:ext cx="4160520" cy="54864"/>
          </a:xfrm>
          <a:prstGeom prst="rect">
            <a:avLst/>
          </a:prstGeom>
          <a:solidFill>
            <a:srgbClr val="EF5350"/>
          </a:solidFill>
          <a:ln w="12700">
            <a:solidFill>
              <a:srgbClr val="EF535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818888" y="2496312"/>
            <a:ext cx="640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EF53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Error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4818888" y="2706624"/>
            <a:ext cx="3931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1A234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NullPointerException</a:t>
            </a:r>
            <a:endParaRPr lang="en-US" sz="1150" dirty="0"/>
          </a:p>
        </p:txBody>
      </p:sp>
      <p:sp>
        <p:nvSpPr>
          <p:cNvPr id="28" name="Shape 26"/>
          <p:cNvSpPr/>
          <p:nvPr/>
        </p:nvSpPr>
        <p:spPr>
          <a:xfrm>
            <a:off x="4818888" y="3017520"/>
            <a:ext cx="3840480" cy="13716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818888" y="3063240"/>
            <a:ext cx="3931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Account not found. The findAccount() null guard handles this.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320040" y="3730752"/>
            <a:ext cx="4160520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25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320040" y="3730752"/>
            <a:ext cx="4160520" cy="54864"/>
          </a:xfrm>
          <a:prstGeom prst="rect">
            <a:avLst/>
          </a:prstGeom>
          <a:solidFill>
            <a:srgbClr val="EF5350"/>
          </a:solidFill>
          <a:ln w="12700">
            <a:solidFill>
              <a:srgbClr val="EF5350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29768" y="3822192"/>
            <a:ext cx="640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EF53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Error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429768" y="4032504"/>
            <a:ext cx="3931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1A234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Blank line skipped</a:t>
            </a:r>
            <a:endParaRPr lang="en-US" sz="1150" dirty="0"/>
          </a:p>
        </p:txBody>
      </p:sp>
      <p:sp>
        <p:nvSpPr>
          <p:cNvPr id="34" name="Shape 32"/>
          <p:cNvSpPr/>
          <p:nvPr/>
        </p:nvSpPr>
        <p:spPr>
          <a:xfrm>
            <a:off x="429768" y="4343400"/>
            <a:ext cx="3840480" cy="13716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29768" y="4389120"/>
            <a:ext cx="3931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Missing sc.nextLine() after sc.nextInt(). Always consume the newline.</a:t>
            </a:r>
            <a:endParaRPr lang="en-US" sz="1100" dirty="0"/>
          </a:p>
        </p:txBody>
      </p:sp>
      <p:sp>
        <p:nvSpPr>
          <p:cNvPr id="36" name="Shape 34"/>
          <p:cNvSpPr/>
          <p:nvPr/>
        </p:nvSpPr>
        <p:spPr>
          <a:xfrm>
            <a:off x="4709160" y="3730752"/>
            <a:ext cx="4160520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25000"/>
              </a:srgbClr>
            </a:outerShdw>
          </a:effectLst>
        </p:spPr>
      </p:sp>
      <p:sp>
        <p:nvSpPr>
          <p:cNvPr id="37" name="Shape 35"/>
          <p:cNvSpPr/>
          <p:nvPr/>
        </p:nvSpPr>
        <p:spPr>
          <a:xfrm>
            <a:off x="4709160" y="3730752"/>
            <a:ext cx="4160520" cy="54864"/>
          </a:xfrm>
          <a:prstGeom prst="rect">
            <a:avLst/>
          </a:prstGeom>
          <a:solidFill>
            <a:srgbClr val="EF5350"/>
          </a:solidFill>
          <a:ln w="12700">
            <a:solidFill>
              <a:srgbClr val="EF5350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4818888" y="3822192"/>
            <a:ext cx="640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EF53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Error</a:t>
            </a:r>
            <a:endParaRPr lang="en-US" sz="900" dirty="0"/>
          </a:p>
        </p:txBody>
      </p:sp>
      <p:sp>
        <p:nvSpPr>
          <p:cNvPr id="39" name="Text 37"/>
          <p:cNvSpPr/>
          <p:nvPr/>
        </p:nvSpPr>
        <p:spPr>
          <a:xfrm>
            <a:off x="4818888" y="4032504"/>
            <a:ext cx="3931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1A234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Permission denied: ./run.sh</a:t>
            </a:r>
            <a:endParaRPr lang="en-US" sz="1150" dirty="0"/>
          </a:p>
        </p:txBody>
      </p:sp>
      <p:sp>
        <p:nvSpPr>
          <p:cNvPr id="40" name="Shape 38"/>
          <p:cNvSpPr/>
          <p:nvPr/>
        </p:nvSpPr>
        <p:spPr>
          <a:xfrm>
            <a:off x="4818888" y="4343400"/>
            <a:ext cx="3840480" cy="13716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4818888" y="4389120"/>
            <a:ext cx="3931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Run: chmod +x run.sh to make the script executable.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A234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E2B4A"/>
          </a:solidFill>
          <a:ln w="12700">
            <a:solidFill>
              <a:srgbClr val="1E2B4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0"/>
            <a:ext cx="85039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Setup &amp; Running the Project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8046720" y="0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3200" b="1" dirty="0">
                <a:solidFill>
                  <a:srgbClr val="4FC3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548640" y="1581912"/>
            <a:ext cx="18288" cy="347472"/>
          </a:xfrm>
          <a:prstGeom prst="rect">
            <a:avLst/>
          </a:prstGeom>
          <a:solidFill>
            <a:srgbClr val="4FC3F7">
              <a:alpha val="50000"/>
            </a:srgbClr>
          </a:solidFill>
          <a:ln w="12700">
            <a:solidFill>
              <a:srgbClr val="4FC3F7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20040" y="1115568"/>
            <a:ext cx="457200" cy="457200"/>
          </a:xfrm>
          <a:prstGeom prst="ellipse">
            <a:avLst/>
          </a:prstGeom>
          <a:solidFill>
            <a:srgbClr val="4FC3F7"/>
          </a:solidFill>
          <a:ln w="12700">
            <a:solidFill>
              <a:srgbClr val="4FC3F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20040" y="111556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A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960120" y="1078992"/>
            <a:ext cx="7863840" cy="704088"/>
          </a:xfrm>
          <a:prstGeom prst="rect">
            <a:avLst/>
          </a:prstGeom>
          <a:solidFill>
            <a:srgbClr val="243057"/>
          </a:solidFill>
          <a:ln w="12700">
            <a:solidFill>
              <a:srgbClr val="2D3F6B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25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1097280" y="1124712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Install JDK 17+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1097280" y="1426464"/>
            <a:ext cx="7589520" cy="265176"/>
          </a:xfrm>
          <a:prstGeom prst="rect">
            <a:avLst/>
          </a:prstGeom>
          <a:solidFill>
            <a:srgbClr val="1A2947"/>
          </a:solidFill>
          <a:ln w="12700">
            <a:solidFill>
              <a:srgbClr val="2D3F6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097280" y="1426464"/>
            <a:ext cx="7589520" cy="265176"/>
          </a:xfrm>
          <a:prstGeom prst="rect">
            <a:avLst/>
          </a:prstGeom>
          <a:noFill/>
          <a:ln/>
        </p:spPr>
        <p:txBody>
          <a:bodyPr wrap="square" lIns="101600" tIns="101600" rIns="101600" bIns="10160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81D4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Download from oracle.com or use OpenJDK. Verify with: java --version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548640" y="2386584"/>
            <a:ext cx="18288" cy="347472"/>
          </a:xfrm>
          <a:prstGeom prst="rect">
            <a:avLst/>
          </a:prstGeom>
          <a:solidFill>
            <a:srgbClr val="4FC3F7">
              <a:alpha val="50000"/>
            </a:srgbClr>
          </a:solidFill>
          <a:ln w="12700">
            <a:solidFill>
              <a:srgbClr val="4FC3F7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20040" y="1920240"/>
            <a:ext cx="457200" cy="457200"/>
          </a:xfrm>
          <a:prstGeom prst="ellipse">
            <a:avLst/>
          </a:prstGeom>
          <a:solidFill>
            <a:srgbClr val="4FC3F7"/>
          </a:solidFill>
          <a:ln w="12700">
            <a:solidFill>
              <a:srgbClr val="4FC3F7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20040" y="19202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A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960120" y="1883664"/>
            <a:ext cx="7863840" cy="704088"/>
          </a:xfrm>
          <a:prstGeom prst="rect">
            <a:avLst/>
          </a:prstGeom>
          <a:solidFill>
            <a:srgbClr val="243057"/>
          </a:solidFill>
          <a:ln w="12700">
            <a:solidFill>
              <a:srgbClr val="2D3F6B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25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1097280" y="1929384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Project Folder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1097280" y="2231136"/>
            <a:ext cx="7589520" cy="265176"/>
          </a:xfrm>
          <a:prstGeom prst="rect">
            <a:avLst/>
          </a:prstGeom>
          <a:solidFill>
            <a:srgbClr val="1A2947"/>
          </a:solidFill>
          <a:ln w="12700">
            <a:solidFill>
              <a:srgbClr val="2D3F6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097280" y="2231136"/>
            <a:ext cx="7589520" cy="265176"/>
          </a:xfrm>
          <a:prstGeom prst="rect">
            <a:avLst/>
          </a:prstGeom>
          <a:noFill/>
          <a:ln/>
        </p:spPr>
        <p:txBody>
          <a:bodyPr wrap="square" lIns="101600" tIns="101600" rIns="101600" bIns="10160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81D4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mkdir BankSystem &amp;&amp; cd BankSystem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548640" y="3191256"/>
            <a:ext cx="18288" cy="347472"/>
          </a:xfrm>
          <a:prstGeom prst="rect">
            <a:avLst/>
          </a:prstGeom>
          <a:solidFill>
            <a:srgbClr val="4FC3F7">
              <a:alpha val="50000"/>
            </a:srgbClr>
          </a:solidFill>
          <a:ln w="12700">
            <a:solidFill>
              <a:srgbClr val="4FC3F7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320040" y="2724912"/>
            <a:ext cx="457200" cy="457200"/>
          </a:xfrm>
          <a:prstGeom prst="ellipse">
            <a:avLst/>
          </a:prstGeom>
          <a:solidFill>
            <a:srgbClr val="4FC3F7"/>
          </a:solidFill>
          <a:ln w="12700">
            <a:solidFill>
              <a:srgbClr val="4FC3F7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20040" y="272491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A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960120" y="2688336"/>
            <a:ext cx="7863840" cy="704088"/>
          </a:xfrm>
          <a:prstGeom prst="rect">
            <a:avLst/>
          </a:prstGeom>
          <a:solidFill>
            <a:srgbClr val="243057"/>
          </a:solidFill>
          <a:ln w="12700">
            <a:solidFill>
              <a:srgbClr val="2D3F6B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25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1097280" y="2734056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the 3 Files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1097280" y="3035808"/>
            <a:ext cx="7589520" cy="265176"/>
          </a:xfrm>
          <a:prstGeom prst="rect">
            <a:avLst/>
          </a:prstGeom>
          <a:solidFill>
            <a:srgbClr val="1A2947"/>
          </a:solidFill>
          <a:ln w="12700">
            <a:solidFill>
              <a:srgbClr val="2D3F6B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1097280" y="3035808"/>
            <a:ext cx="7589520" cy="265176"/>
          </a:xfrm>
          <a:prstGeom prst="rect">
            <a:avLst/>
          </a:prstGeom>
          <a:noFill/>
          <a:ln/>
        </p:spPr>
        <p:txBody>
          <a:bodyPr wrap="square" lIns="101600" tIns="101600" rIns="101600" bIns="10160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81D4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BankAccount.java  •  Main.java  •  run.sh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548640" y="3995928"/>
            <a:ext cx="18288" cy="347472"/>
          </a:xfrm>
          <a:prstGeom prst="rect">
            <a:avLst/>
          </a:prstGeom>
          <a:solidFill>
            <a:srgbClr val="4FC3F7">
              <a:alpha val="50000"/>
            </a:srgbClr>
          </a:solidFill>
          <a:ln w="12700">
            <a:solidFill>
              <a:srgbClr val="4FC3F7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320040" y="3529584"/>
            <a:ext cx="457200" cy="457200"/>
          </a:xfrm>
          <a:prstGeom prst="ellipse">
            <a:avLst/>
          </a:prstGeom>
          <a:solidFill>
            <a:srgbClr val="4FC3F7"/>
          </a:solidFill>
          <a:ln w="12700">
            <a:solidFill>
              <a:srgbClr val="4FC3F7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320040" y="352958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A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960120" y="3493008"/>
            <a:ext cx="7863840" cy="704088"/>
          </a:xfrm>
          <a:prstGeom prst="rect">
            <a:avLst/>
          </a:prstGeom>
          <a:solidFill>
            <a:srgbClr val="243057"/>
          </a:solidFill>
          <a:ln w="12700">
            <a:solidFill>
              <a:srgbClr val="2D3F6B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25000"/>
              </a:srgbClr>
            </a:outerShdw>
          </a:effectLst>
        </p:spPr>
      </p:sp>
      <p:sp>
        <p:nvSpPr>
          <p:cNvPr id="30" name="Text 28"/>
          <p:cNvSpPr/>
          <p:nvPr/>
        </p:nvSpPr>
        <p:spPr>
          <a:xfrm>
            <a:off x="1097280" y="3538728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Make Script Executable</a:t>
            </a:r>
            <a:endParaRPr lang="en-US" sz="1300" dirty="0"/>
          </a:p>
        </p:txBody>
      </p:sp>
      <p:sp>
        <p:nvSpPr>
          <p:cNvPr id="31" name="Shape 29"/>
          <p:cNvSpPr/>
          <p:nvPr/>
        </p:nvSpPr>
        <p:spPr>
          <a:xfrm>
            <a:off x="1097280" y="3840480"/>
            <a:ext cx="7589520" cy="265176"/>
          </a:xfrm>
          <a:prstGeom prst="rect">
            <a:avLst/>
          </a:prstGeom>
          <a:solidFill>
            <a:srgbClr val="1A2947"/>
          </a:solidFill>
          <a:ln w="12700">
            <a:solidFill>
              <a:srgbClr val="2D3F6B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1097280" y="3840480"/>
            <a:ext cx="7589520" cy="265176"/>
          </a:xfrm>
          <a:prstGeom prst="rect">
            <a:avLst/>
          </a:prstGeom>
          <a:noFill/>
          <a:ln/>
        </p:spPr>
        <p:txBody>
          <a:bodyPr wrap="square" lIns="101600" tIns="101600" rIns="101600" bIns="10160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81D4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chmod +x run.sh  (Linux/macOS only)</a:t>
            </a:r>
            <a:endParaRPr lang="en-US" sz="1050" dirty="0"/>
          </a:p>
        </p:txBody>
      </p:sp>
      <p:sp>
        <p:nvSpPr>
          <p:cNvPr id="33" name="Shape 31"/>
          <p:cNvSpPr/>
          <p:nvPr/>
        </p:nvSpPr>
        <p:spPr>
          <a:xfrm>
            <a:off x="320040" y="4334256"/>
            <a:ext cx="457200" cy="457200"/>
          </a:xfrm>
          <a:prstGeom prst="ellipse">
            <a:avLst/>
          </a:prstGeom>
          <a:solidFill>
            <a:srgbClr val="4FC3F7"/>
          </a:solidFill>
          <a:ln w="12700">
            <a:solidFill>
              <a:srgbClr val="4FC3F7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320040" y="433425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A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960120" y="4297680"/>
            <a:ext cx="7863840" cy="704088"/>
          </a:xfrm>
          <a:prstGeom prst="rect">
            <a:avLst/>
          </a:prstGeom>
          <a:solidFill>
            <a:srgbClr val="243057"/>
          </a:solidFill>
          <a:ln w="12700">
            <a:solidFill>
              <a:srgbClr val="2D3F6B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25000"/>
              </a:srgbClr>
            </a:outerShdw>
          </a:effectLst>
        </p:spPr>
      </p:sp>
      <p:sp>
        <p:nvSpPr>
          <p:cNvPr id="36" name="Text 34"/>
          <p:cNvSpPr/>
          <p:nvPr/>
        </p:nvSpPr>
        <p:spPr>
          <a:xfrm>
            <a:off x="1097280" y="434340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the Application</a:t>
            </a:r>
            <a:endParaRPr lang="en-US" sz="1300" dirty="0"/>
          </a:p>
        </p:txBody>
      </p:sp>
      <p:sp>
        <p:nvSpPr>
          <p:cNvPr id="37" name="Shape 35"/>
          <p:cNvSpPr/>
          <p:nvPr/>
        </p:nvSpPr>
        <p:spPr>
          <a:xfrm>
            <a:off x="1097280" y="4645152"/>
            <a:ext cx="7589520" cy="265176"/>
          </a:xfrm>
          <a:prstGeom prst="rect">
            <a:avLst/>
          </a:prstGeom>
          <a:solidFill>
            <a:srgbClr val="1A2947"/>
          </a:solidFill>
          <a:ln w="12700">
            <a:solidFill>
              <a:srgbClr val="2D3F6B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1097280" y="4645152"/>
            <a:ext cx="7589520" cy="265176"/>
          </a:xfrm>
          <a:prstGeom prst="rect">
            <a:avLst/>
          </a:prstGeom>
          <a:noFill/>
          <a:ln/>
        </p:spPr>
        <p:txBody>
          <a:bodyPr wrap="square" lIns="101600" tIns="101600" rIns="101600" bIns="10160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81D4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./run.sh  —  or on Windows: javac *.java &amp;&amp; java Main</a:t>
            </a:r>
            <a:endParaRPr lang="en-US" sz="10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A234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914400" y="-914400"/>
            <a:ext cx="3200400" cy="3200400"/>
          </a:xfrm>
          <a:prstGeom prst="ellipse">
            <a:avLst/>
          </a:prstGeom>
          <a:solidFill>
            <a:srgbClr val="4FC3F7">
              <a:alpha val="10000"/>
            </a:srgbClr>
          </a:solidFill>
          <a:ln w="12700">
            <a:solidFill>
              <a:srgbClr val="4FC3F7">
                <a:alpha val="15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772400" y="3474720"/>
            <a:ext cx="2286000" cy="2286000"/>
          </a:xfrm>
          <a:prstGeom prst="ellipse">
            <a:avLst/>
          </a:prstGeom>
          <a:solidFill>
            <a:srgbClr val="4FC3F7">
              <a:alpha val="12000"/>
            </a:srgbClr>
          </a:solidFill>
          <a:ln w="12700">
            <a:solidFill>
              <a:srgbClr val="4FC3F7">
                <a:alpha val="1500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27432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spc="200" kern="0" dirty="0">
                <a:solidFill>
                  <a:srgbClr val="4FC3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Takeaways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457200" y="68580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Summary</a:t>
            </a:r>
            <a:endParaRPr lang="en-US" sz="3200" dirty="0"/>
          </a:p>
        </p:txBody>
      </p:sp>
      <p:sp>
        <p:nvSpPr>
          <p:cNvPr id="6" name="Shape 4"/>
          <p:cNvSpPr/>
          <p:nvPr/>
        </p:nvSpPr>
        <p:spPr>
          <a:xfrm>
            <a:off x="3474720" y="1353312"/>
            <a:ext cx="2194560" cy="36576"/>
          </a:xfrm>
          <a:prstGeom prst="rect">
            <a:avLst/>
          </a:prstGeom>
          <a:solidFill>
            <a:srgbClr val="4FC3F7"/>
          </a:solidFill>
          <a:ln w="12700">
            <a:solidFill>
              <a:srgbClr val="4FC3F7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20040" y="1508760"/>
            <a:ext cx="2743200" cy="2423160"/>
          </a:xfrm>
          <a:prstGeom prst="rect">
            <a:avLst/>
          </a:prstGeom>
          <a:solidFill>
            <a:srgbClr val="243057"/>
          </a:solidFill>
          <a:ln w="12700">
            <a:solidFill>
              <a:srgbClr val="2D3F6B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25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320040" y="1508760"/>
            <a:ext cx="2743200" cy="54864"/>
          </a:xfrm>
          <a:prstGeom prst="rect">
            <a:avLst/>
          </a:prstGeom>
          <a:solidFill>
            <a:srgbClr val="4FC3F7"/>
          </a:solidFill>
          <a:ln w="12700">
            <a:solidFill>
              <a:srgbClr val="4FC3F7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20040" y="160020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4FC3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429768" y="2121408"/>
            <a:ext cx="25237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OOP Principles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429768" y="2542032"/>
            <a:ext cx="2523744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Demonstrates Class, Object, Encapsulation,</a:t>
            </a:r>
            <a:endParaRPr lang="en-US" sz="1100" dirty="0"/>
          </a:p>
          <a:p>
            <a:pPr algn="ctr"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Constructors, Methods &amp; Object Interaction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3200400" y="1508760"/>
            <a:ext cx="2743200" cy="2423160"/>
          </a:xfrm>
          <a:prstGeom prst="rect">
            <a:avLst/>
          </a:prstGeom>
          <a:solidFill>
            <a:srgbClr val="243057"/>
          </a:solidFill>
          <a:ln w="12700">
            <a:solidFill>
              <a:srgbClr val="2D3F6B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25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3200400" y="1508760"/>
            <a:ext cx="2743200" cy="54864"/>
          </a:xfrm>
          <a:prstGeom prst="rect">
            <a:avLst/>
          </a:prstGeom>
          <a:solidFill>
            <a:srgbClr val="4FC3F7"/>
          </a:solidFill>
          <a:ln w="12700">
            <a:solidFill>
              <a:srgbClr val="4FC3F7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200400" y="160020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4FC3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3310128" y="2121408"/>
            <a:ext cx="25237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Real-World Design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3310128" y="2542032"/>
            <a:ext cx="2523744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Structured like a production system with</a:t>
            </a:r>
            <a:endParaRPr lang="en-US" sz="1100" dirty="0"/>
          </a:p>
          <a:p>
            <a:pPr algn="ctr"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validation, error handling &amp; helper methods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6080760" y="1508760"/>
            <a:ext cx="2743200" cy="2423160"/>
          </a:xfrm>
          <a:prstGeom prst="rect">
            <a:avLst/>
          </a:prstGeom>
          <a:solidFill>
            <a:srgbClr val="243057"/>
          </a:solidFill>
          <a:ln w="12700">
            <a:solidFill>
              <a:srgbClr val="2D3F6B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25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6080760" y="1508760"/>
            <a:ext cx="2743200" cy="54864"/>
          </a:xfrm>
          <a:prstGeom prst="rect">
            <a:avLst/>
          </a:prstGeom>
          <a:solidFill>
            <a:srgbClr val="4FC3F7"/>
          </a:solidFill>
          <a:ln w="12700">
            <a:solidFill>
              <a:srgbClr val="4FC3F7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080760" y="160020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4FC3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6190488" y="2121408"/>
            <a:ext cx="25237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Extensible Base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6190488" y="2542032"/>
            <a:ext cx="2523744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 be extended with interest calculation,</a:t>
            </a:r>
            <a:endParaRPr lang="en-US" sz="1100" dirty="0"/>
          </a:p>
          <a:p>
            <a:pPr algn="ctr"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loan management, or a GUI front-end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0" y="4206240"/>
            <a:ext cx="9144000" cy="937260"/>
          </a:xfrm>
          <a:prstGeom prst="rect">
            <a:avLst/>
          </a:prstGeom>
          <a:solidFill>
            <a:srgbClr val="1E2B4A"/>
          </a:solidFill>
          <a:ln w="12700">
            <a:solidFill>
              <a:srgbClr val="1E2B4A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20040" y="4206240"/>
            <a:ext cx="8503920" cy="9372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spc="100" kern="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Bank Management System  ·  OOP Lab Project  ·  BAUST CSE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Bank Management System — OOP Lab Project</dc:title>
  <dc:subject>PptxGenJS Presentation</dc:subject>
  <dc:creator>PptxGenJS</dc:creator>
  <cp:lastModifiedBy>PptxGenJS</cp:lastModifiedBy>
  <cp:revision>1</cp:revision>
  <dcterms:created xsi:type="dcterms:W3CDTF">2026-06-08T19:47:46Z</dcterms:created>
  <dcterms:modified xsi:type="dcterms:W3CDTF">2026-06-08T19:47:46Z</dcterms:modified>
</cp:coreProperties>
</file>